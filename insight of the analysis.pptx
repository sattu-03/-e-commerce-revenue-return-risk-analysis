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t>Monthly Revenue ($M)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marker>
            <c:symbol val="none"/>
          </c:marker>
          <c:dLbls>
            <c:delete val="1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1.8</c:v>
                </c:pt>
                <c:pt idx="1">
                  <c:v>2.1</c:v>
                </c:pt>
                <c:pt idx="2">
                  <c:v>1.9</c:v>
                </c:pt>
                <c:pt idx="3">
                  <c:v>2.4</c:v>
                </c:pt>
                <c:pt idx="4">
                  <c:v>2.3</c:v>
                </c:pt>
                <c:pt idx="5">
                  <c:v>2.6</c:v>
                </c:pt>
                <c:pt idx="6">
                  <c:v>2.5</c:v>
                </c:pt>
                <c:pt idx="7">
                  <c:v>2.8</c:v>
                </c:pt>
                <c:pt idx="8">
                  <c:v>2.7</c:v>
                </c:pt>
                <c:pt idx="9">
                  <c:v>3</c:v>
                </c:pt>
                <c:pt idx="10">
                  <c:v>2.9</c:v>
                </c:pt>
                <c:pt idx="11">
                  <c:v>3.2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3cbe5e73-9155-48fd-b1f4-697a61b779dc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t>Active Users Growth (K)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Users (K)</c:v>
                </c:pt>
              </c:strCache>
            </c:strRef>
          </c:tx>
          <c:marker>
            <c:symbol val="none"/>
          </c:marker>
          <c:dLbls>
            <c:delete val="1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98</c:v>
                </c:pt>
                <c:pt idx="1">
                  <c:v>105</c:v>
                </c:pt>
                <c:pt idx="2">
                  <c:v>112</c:v>
                </c:pt>
                <c:pt idx="3">
                  <c:v>118</c:v>
                </c:pt>
                <c:pt idx="4">
                  <c:v>125</c:v>
                </c:pt>
                <c:pt idx="5">
                  <c:v>130</c:v>
                </c:pt>
                <c:pt idx="6">
                  <c:v>135</c:v>
                </c:pt>
                <c:pt idx="7">
                  <c:v>140</c:v>
                </c:pt>
                <c:pt idx="8">
                  <c:v>145</c:v>
                </c:pt>
                <c:pt idx="9">
                  <c:v>150</c:v>
                </c:pt>
                <c:pt idx="10">
                  <c:v>153</c:v>
                </c:pt>
                <c:pt idx="11">
                  <c:v>156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734a13ab-64d9-4df8-9700-750c653c1a8d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t>Sales by Category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Electronics</c:v>
                </c:pt>
                <c:pt idx="1">
                  <c:v>Clothing</c:v>
                </c:pt>
                <c:pt idx="2">
                  <c:v>Home &amp;
Garden</c:v>
                </c:pt>
                <c:pt idx="3">
                  <c:v>Sports</c:v>
                </c:pt>
                <c:pt idx="4">
                  <c:v>Books</c:v>
                </c:pt>
                <c:pt idx="5">
                  <c:v>Toys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4.2</c:v>
                </c:pt>
                <c:pt idx="1">
                  <c:v>3.8</c:v>
                </c:pt>
                <c:pt idx="2">
                  <c:v>2.9</c:v>
                </c:pt>
                <c:pt idx="3">
                  <c:v>2.1</c:v>
                </c:pt>
                <c:pt idx="4">
                  <c:v>1.5</c:v>
                </c:pt>
                <c:pt idx="5">
                  <c:v>1.3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b161c470-23ab-4e36-917a-a89c9368a405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t>Regional Performance ($M)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</c:v>
                </c:pt>
                <c:pt idx="5">
                  <c:v>Africa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8.5</c:v>
                </c:pt>
                <c:pt idx="1">
                  <c:v>6.2</c:v>
                </c:pt>
                <c:pt idx="2">
                  <c:v>5.8</c:v>
                </c:pt>
                <c:pt idx="3">
                  <c:v>2.4</c:v>
                </c:pt>
                <c:pt idx="4">
                  <c:v>1.3</c:v>
                </c:pt>
                <c:pt idx="5">
                  <c:v>0.6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3d1094d9-30ab-464d-ba56-b87c6efa7377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75565"/>
            <a:ext cx="91440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95705" y="2489200"/>
            <a:ext cx="6752590" cy="829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rPr lang="en-US" sz="4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INSIGHT OF THE ANALYSIS</a:t>
            </a:r>
            <a:endParaRPr lang="en-US" sz="4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70735" y="3657600"/>
            <a:ext cx="50025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ADCFC"/>
                </a:solidFill>
              </a:defRPr>
            </a:pPr>
            <a:r>
              <a:rPr lang="en-US" altLang="en-US"/>
              <a:t>E-Commerce Revenue &amp; Return Risk Analysis | 2026</a:t>
            </a:r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2743200" y="3474720"/>
            <a:ext cx="3657600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Key Performance Indicators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1554480" cy="1645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828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6666"/>
                </a:solidFill>
              </a:defRPr>
            </a:pPr>
            <a:r>
              <a:t>Total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219456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$24.8M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8346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C864"/>
                </a:solidFill>
              </a:defRPr>
            </a:pPr>
            <a:r>
              <a:t>+18.5%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645920"/>
            <a:ext cx="1554480" cy="1645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828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6666"/>
                </a:solidFill>
              </a:defRPr>
            </a:pPr>
            <a:r>
              <a:t>Active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19456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156K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8346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C864"/>
                </a:solidFill>
              </a:defRPr>
            </a:pPr>
            <a:r>
              <a:t>+12.3%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645920"/>
            <a:ext cx="1554480" cy="1645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828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6666"/>
                </a:solidFill>
              </a:defRPr>
            </a:pPr>
            <a:r>
              <a:t>Conversion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19456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3.8%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8346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C864"/>
                </a:solidFill>
              </a:defRPr>
            </a:pPr>
            <a:r>
              <a:t>+0.4%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1645920"/>
            <a:ext cx="1554480" cy="1645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1828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6666"/>
                </a:solidFill>
              </a:defRPr>
            </a:pPr>
            <a:r>
              <a:t>Avg Order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19456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$158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8346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3C3C"/>
                </a:solidFill>
              </a:defRPr>
            </a:pPr>
            <a:r>
              <a:t>-2.1%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1645920"/>
            <a:ext cx="1554480" cy="1645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1828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66666"/>
                </a:solidFill>
              </a:defRPr>
            </a:pPr>
            <a:r>
              <a:t>Customer Satisfaction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19456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</a:defRPr>
            </a:pPr>
            <a:r>
              <a:t>94%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8346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C864"/>
                </a:solidFill>
              </a:defRPr>
            </a:pPr>
            <a:r>
              <a:t>+3.2%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Overall performance shows strong growth across key metrics with 18.5% revenue increase and expanding user base. Customer satisfaction reaches 94%, reflecting excellent service quality.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Revenue &amp; User Growth Trends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71600"/>
          <a:ext cx="78638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4114800"/>
          <a:ext cx="78638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Sales Distribution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71600"/>
          <a:ext cx="3749039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754880" y="1371600"/>
          <a:ext cx="3749039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Key Insights &amp;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solidFill>
            <a:srgbClr val="28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37744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FF"/>
                </a:solidFill>
              </a:defRPr>
            </a:pPr>
            <a:r>
              <a:t>Strong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65176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ADCFC"/>
                </a:solidFill>
              </a:defRPr>
            </a:pPr>
            <a:r>
              <a:t>Revenue up 18.5% YTD with consistent growth momentum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200400"/>
            <a:ext cx="6400800" cy="731520"/>
          </a:xfrm>
          <a:prstGeom prst="rect">
            <a:avLst/>
          </a:prstGeom>
          <a:solidFill>
            <a:srgbClr val="28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329184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FF"/>
                </a:solidFill>
              </a:defRPr>
            </a:pPr>
            <a:r>
              <a:t>User Expansion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56616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ADCFC"/>
                </a:solidFill>
              </a:defRPr>
            </a:pPr>
            <a:r>
              <a:t>156K active users representing 12.3% growth quarter-over-quarter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114800"/>
            <a:ext cx="6400800" cy="731520"/>
          </a:xfrm>
          <a:prstGeom prst="rect">
            <a:avLst/>
          </a:prstGeom>
          <a:solidFill>
            <a:srgbClr val="28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420624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FF"/>
                </a:solidFill>
              </a:defRPr>
            </a:pPr>
            <a:r>
              <a:t>Category Leaders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48056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ADCFC"/>
                </a:solidFill>
              </a:defRPr>
            </a:pPr>
            <a:r>
              <a:t>Electronics and Clothing drive 32% of total revenue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5029200"/>
            <a:ext cx="6400800" cy="731520"/>
          </a:xfrm>
          <a:prstGeom prst="rect">
            <a:avLst/>
          </a:prstGeom>
          <a:solidFill>
            <a:srgbClr val="28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5120640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FF"/>
                </a:solidFill>
              </a:defRPr>
            </a:pPr>
            <a:r>
              <a:t>Regional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39496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ADCFC"/>
                </a:solidFill>
              </a:defRPr>
            </a:pPr>
            <a:r>
              <a:t>North America and Europe account for 59% of global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ADCFC"/>
                </a:solidFill>
              </a:defRPr>
            </a:pPr>
            <a:r>
              <a:t>Executive Dashboard Report |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801</Words>
  <Application>WPS Presentation</Application>
  <PresentationFormat>On-screen Show (4:3)</PresentationFormat>
  <Paragraphs>62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Satyam Dhibar</cp:lastModifiedBy>
  <cp:revision>2</cp:revision>
  <dcterms:created xsi:type="dcterms:W3CDTF">2013-01-27T09:14:00Z</dcterms:created>
  <dcterms:modified xsi:type="dcterms:W3CDTF">2026-02-11T09:31:59Z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3501D91644874147BDE4BEF9C0703208_12</vt:lpwstr>
  </property>
  <property fmtid="{D5CDD505-2E9C-101B-9397-08002B2CF9AE}" pid="3" name="KSOProductBuildVer">
    <vt:lpwstr>1033-12.2.0.23196</vt:lpwstr>
  </property>
</Properties>
</file>